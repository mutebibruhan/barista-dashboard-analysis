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ham ." userId="2e47c01609e708b3" providerId="LiveId" clId="{9FB7AD8D-C26E-4D17-9E2D-296BFE563C6A}"/>
    <pc:docChg chg="undo custSel modSld">
      <pc:chgData name="Aarham ." userId="2e47c01609e708b3" providerId="LiveId" clId="{9FB7AD8D-C26E-4D17-9E2D-296BFE563C6A}" dt="2026-05-16T14:40:20.007" v="127" actId="14100"/>
      <pc:docMkLst>
        <pc:docMk/>
      </pc:docMkLst>
      <pc:sldChg chg="addSp delSp modSp mod">
        <pc:chgData name="Aarham ." userId="2e47c01609e708b3" providerId="LiveId" clId="{9FB7AD8D-C26E-4D17-9E2D-296BFE563C6A}" dt="2026-05-16T14:37:50.295" v="112" actId="14100"/>
        <pc:sldMkLst>
          <pc:docMk/>
          <pc:sldMk cId="0" sldId="259"/>
        </pc:sldMkLst>
        <pc:spChg chg="del">
          <ac:chgData name="Aarham ." userId="2e47c01609e708b3" providerId="LiveId" clId="{9FB7AD8D-C26E-4D17-9E2D-296BFE563C6A}" dt="2026-05-16T14:31:00.322" v="9" actId="21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2:14.751" v="41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03.158" v="10" actId="478"/>
          <ac:spMkLst>
            <pc:docMk/>
            <pc:sldMk cId="0" sldId="259"/>
            <ac:spMk id="4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1:54.994" v="33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05.411" v="11" actId="478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2:04.138" v="37" actId="478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2:08.861" v="39" actId="478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1:59.774" v="35" actId="478"/>
          <ac:spMkLst>
            <pc:docMk/>
            <pc:sldMk cId="0" sldId="259"/>
            <ac:spMk id="9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0:48.820" v="6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27.770" v="23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27.770" v="23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09.378" v="15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Aarham ." userId="2e47c01609e708b3" providerId="LiveId" clId="{9FB7AD8D-C26E-4D17-9E2D-296BFE563C6A}" dt="2026-05-16T14:30:47.447" v="4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27.770" v="23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27.770" v="23" actId="478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1:16.115" v="17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Aarham ." userId="2e47c01609e708b3" providerId="LiveId" clId="{9FB7AD8D-C26E-4D17-9E2D-296BFE563C6A}" dt="2026-05-16T14:30:48.180" v="5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27.770" v="23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Aarham ." userId="2e47c01609e708b3" providerId="LiveId" clId="{9FB7AD8D-C26E-4D17-9E2D-296BFE563C6A}" dt="2026-05-16T14:30:42.210" v="1" actId="478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1:17.910" v="18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Aarham ." userId="2e47c01609e708b3" providerId="LiveId" clId="{9FB7AD8D-C26E-4D17-9E2D-296BFE563C6A}" dt="2026-05-16T14:30:49.698" v="7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27.770" v="23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Aarham ." userId="2e47c01609e708b3" providerId="LiveId" clId="{9FB7AD8D-C26E-4D17-9E2D-296BFE563C6A}" dt="2026-05-16T14:30:45.611" v="3" actId="478"/>
          <ac:spMkLst>
            <pc:docMk/>
            <pc:sldMk cId="0" sldId="259"/>
            <ac:spMk id="24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1:19.906" v="20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Aarham ." userId="2e47c01609e708b3" providerId="LiveId" clId="{9FB7AD8D-C26E-4D17-9E2D-296BFE563C6A}" dt="2026-05-16T14:31:20.853" v="21" actId="478"/>
          <ac:spMkLst>
            <pc:docMk/>
            <pc:sldMk cId="0" sldId="259"/>
            <ac:spMk id="26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1:41.200" v="27" actId="478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Aarham ." userId="2e47c01609e708b3" providerId="LiveId" clId="{9FB7AD8D-C26E-4D17-9E2D-296BFE563C6A}" dt="2026-05-16T14:31:35.631" v="25" actId="478"/>
          <ac:spMkLst>
            <pc:docMk/>
            <pc:sldMk cId="0" sldId="259"/>
            <ac:spMk id="28" creationId="{00000000-0000-0000-0000-000000000000}"/>
          </ac:spMkLst>
        </pc:spChg>
        <pc:spChg chg="add del mod">
          <ac:chgData name="Aarham ." userId="2e47c01609e708b3" providerId="LiveId" clId="{9FB7AD8D-C26E-4D17-9E2D-296BFE563C6A}" dt="2026-05-16T14:34:02.174" v="46" actId="478"/>
          <ac:spMkLst>
            <pc:docMk/>
            <pc:sldMk cId="0" sldId="259"/>
            <ac:spMk id="31" creationId="{00000000-0000-0000-0000-000000000000}"/>
          </ac:spMkLst>
        </pc:spChg>
        <pc:spChg chg="add mod">
          <ac:chgData name="Aarham ." userId="2e47c01609e708b3" providerId="LiveId" clId="{9FB7AD8D-C26E-4D17-9E2D-296BFE563C6A}" dt="2026-05-16T14:36:47.584" v="100" actId="120"/>
          <ac:spMkLst>
            <pc:docMk/>
            <pc:sldMk cId="0" sldId="259"/>
            <ac:spMk id="32" creationId="{4B58CCEC-EA02-95AF-63AA-BFEEAF773C24}"/>
          </ac:spMkLst>
        </pc:spChg>
        <pc:graphicFrameChg chg="add mod">
          <ac:chgData name="Aarham ." userId="2e47c01609e708b3" providerId="LiveId" clId="{9FB7AD8D-C26E-4D17-9E2D-296BFE563C6A}" dt="2026-05-16T14:37:50.295" v="112" actId="14100"/>
          <ac:graphicFrameMkLst>
            <pc:docMk/>
            <pc:sldMk cId="0" sldId="259"/>
            <ac:graphicFrameMk id="33" creationId="{39165B2F-286B-41D0-A8D7-94880553B73D}"/>
          </ac:graphicFrameMkLst>
        </pc:graphicFrameChg>
        <pc:graphicFrameChg chg="add mod">
          <ac:chgData name="Aarham ." userId="2e47c01609e708b3" providerId="LiveId" clId="{9FB7AD8D-C26E-4D17-9E2D-296BFE563C6A}" dt="2026-05-16T14:37:38.574" v="110" actId="14100"/>
          <ac:graphicFrameMkLst>
            <pc:docMk/>
            <pc:sldMk cId="0" sldId="259"/>
            <ac:graphicFrameMk id="34" creationId="{10AD3219-F2A7-42CA-8D8F-E0C7ED80351A}"/>
          </ac:graphicFrameMkLst>
        </pc:graphicFrameChg>
      </pc:sldChg>
      <pc:sldChg chg="addSp delSp modSp mod">
        <pc:chgData name="Aarham ." userId="2e47c01609e708b3" providerId="LiveId" clId="{9FB7AD8D-C26E-4D17-9E2D-296BFE563C6A}" dt="2026-05-16T14:39:29.830" v="121" actId="14100"/>
        <pc:sldMkLst>
          <pc:docMk/>
          <pc:sldMk cId="0" sldId="260"/>
        </pc:sldMkLst>
        <pc:spChg chg="del">
          <ac:chgData name="Aarham ." userId="2e47c01609e708b3" providerId="LiveId" clId="{9FB7AD8D-C26E-4D17-9E2D-296BFE563C6A}" dt="2026-05-16T14:38:53.239" v="115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Aarham ." userId="2e47c01609e708b3" providerId="LiveId" clId="{9FB7AD8D-C26E-4D17-9E2D-296BFE563C6A}" dt="2026-05-16T14:38:51.451" v="114" actId="478"/>
          <ac:spMkLst>
            <pc:docMk/>
            <pc:sldMk cId="0" sldId="260"/>
            <ac:spMk id="7" creationId="{00000000-0000-0000-0000-000000000000}"/>
          </ac:spMkLst>
        </pc:spChg>
        <pc:graphicFrameChg chg="del">
          <ac:chgData name="Aarham ." userId="2e47c01609e708b3" providerId="LiveId" clId="{9FB7AD8D-C26E-4D17-9E2D-296BFE563C6A}" dt="2026-05-16T14:38:48.818" v="113" actId="478"/>
          <ac:graphicFrameMkLst>
            <pc:docMk/>
            <pc:sldMk cId="0" sldId="260"/>
            <ac:graphicFrameMk id="6" creationId="{00000000-0000-0000-0000-000000000000}"/>
          </ac:graphicFrameMkLst>
        </pc:graphicFrameChg>
        <pc:graphicFrameChg chg="del">
          <ac:chgData name="Aarham ." userId="2e47c01609e708b3" providerId="LiveId" clId="{9FB7AD8D-C26E-4D17-9E2D-296BFE563C6A}" dt="2026-05-16T14:38:54.999" v="116" actId="478"/>
          <ac:graphicFrameMkLst>
            <pc:docMk/>
            <pc:sldMk cId="0" sldId="260"/>
            <ac:graphicFrameMk id="8" creationId="{00000000-0000-0000-0000-000000000000}"/>
          </ac:graphicFrameMkLst>
        </pc:graphicFrameChg>
        <pc:graphicFrameChg chg="add mod">
          <ac:chgData name="Aarham ." userId="2e47c01609e708b3" providerId="LiveId" clId="{9FB7AD8D-C26E-4D17-9E2D-296BFE563C6A}" dt="2026-05-16T14:39:29.830" v="121" actId="14100"/>
          <ac:graphicFrameMkLst>
            <pc:docMk/>
            <pc:sldMk cId="0" sldId="260"/>
            <ac:graphicFrameMk id="11" creationId="{7B5FD593-54B5-4A3F-8C6D-2C53D0961887}"/>
          </ac:graphicFrameMkLst>
        </pc:graphicFrameChg>
      </pc:sldChg>
      <pc:sldChg chg="addSp delSp modSp mod">
        <pc:chgData name="Aarham ." userId="2e47c01609e708b3" providerId="LiveId" clId="{9FB7AD8D-C26E-4D17-9E2D-296BFE563C6A}" dt="2026-05-16T14:40:20.007" v="127" actId="14100"/>
        <pc:sldMkLst>
          <pc:docMk/>
          <pc:sldMk cId="0" sldId="261"/>
        </pc:sldMkLst>
        <pc:graphicFrameChg chg="del">
          <ac:chgData name="Aarham ." userId="2e47c01609e708b3" providerId="LiveId" clId="{9FB7AD8D-C26E-4D17-9E2D-296BFE563C6A}" dt="2026-05-16T14:39:52.226" v="122" actId="478"/>
          <ac:graphicFrameMkLst>
            <pc:docMk/>
            <pc:sldMk cId="0" sldId="261"/>
            <ac:graphicFrameMk id="5" creationId="{00000000-0000-0000-0000-000000000000}"/>
          </ac:graphicFrameMkLst>
        </pc:graphicFrameChg>
        <pc:graphicFrameChg chg="del">
          <ac:chgData name="Aarham ." userId="2e47c01609e708b3" providerId="LiveId" clId="{9FB7AD8D-C26E-4D17-9E2D-296BFE563C6A}" dt="2026-05-16T14:39:53.590" v="123" actId="478"/>
          <ac:graphicFrameMkLst>
            <pc:docMk/>
            <pc:sldMk cId="0" sldId="261"/>
            <ac:graphicFrameMk id="6" creationId="{00000000-0000-0000-0000-000000000000}"/>
          </ac:graphicFrameMkLst>
        </pc:graphicFrameChg>
        <pc:graphicFrameChg chg="add mod">
          <ac:chgData name="Aarham ." userId="2e47c01609e708b3" providerId="LiveId" clId="{9FB7AD8D-C26E-4D17-9E2D-296BFE563C6A}" dt="2026-05-16T14:40:20.007" v="127" actId="14100"/>
          <ac:graphicFrameMkLst>
            <pc:docMk/>
            <pc:sldMk cId="0" sldId="261"/>
            <ac:graphicFrameMk id="13" creationId="{FD9BCF3F-0EBE-4F81-A508-7BC18A71579C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Barista%20performance/Sales%20Performanc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Barista%20performance/Sales%20Performanc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Barista%20performance/Sales%20Performanc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e47c01609e708b3/Desktop/Projects/Barista%20performance/Sales%20Performanc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Performance.xlsx]Analysis!PivotTable6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Partner Weekly Sales</a:t>
            </a:r>
          </a:p>
        </c:rich>
      </c:tx>
      <c:layout>
        <c:manualLayout>
          <c:xMode val="edge"/>
          <c:yMode val="edge"/>
          <c:x val="0.30092187412743626"/>
          <c:y val="5.63380281690140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3224750097727142"/>
          <c:y val="0.1471927100661713"/>
          <c:w val="0.71420625546806649"/>
          <c:h val="0.50633129192184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Analysis!$C$51:$C$52</c:f>
              <c:strCache>
                <c:ptCount val="1"/>
                <c:pt idx="0">
                  <c:v>Week 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Analysis!$B$53:$B$59</c:f>
              <c:strCache>
                <c:ptCount val="6"/>
                <c:pt idx="0">
                  <c:v>Abdul Kalam Abdul Kalam</c:v>
                </c:pt>
                <c:pt idx="1">
                  <c:v>BIKASH TAMANG</c:v>
                </c:pt>
                <c:pt idx="2">
                  <c:v>Delivery</c:v>
                </c:pt>
                <c:pt idx="3">
                  <c:v>MELJON JACOB</c:v>
                </c:pt>
                <c:pt idx="4">
                  <c:v>MYKA BALINGIT</c:v>
                </c:pt>
                <c:pt idx="5">
                  <c:v>SUMITRA CHHETRI</c:v>
                </c:pt>
              </c:strCache>
            </c:strRef>
          </c:cat>
          <c:val>
            <c:numRef>
              <c:f>Analysis!$C$53:$C$59</c:f>
              <c:numCache>
                <c:formatCode>General</c:formatCode>
                <c:ptCount val="6"/>
                <c:pt idx="0">
                  <c:v>13676.85</c:v>
                </c:pt>
                <c:pt idx="1">
                  <c:v>12696.25</c:v>
                </c:pt>
                <c:pt idx="2">
                  <c:v>14625</c:v>
                </c:pt>
                <c:pt idx="3">
                  <c:v>4231.45</c:v>
                </c:pt>
                <c:pt idx="4">
                  <c:v>25094.400000000001</c:v>
                </c:pt>
                <c:pt idx="5">
                  <c:v>5045.3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53-4CE2-B085-9F55740E00FA}"/>
            </c:ext>
          </c:extLst>
        </c:ser>
        <c:ser>
          <c:idx val="1"/>
          <c:order val="1"/>
          <c:tx>
            <c:strRef>
              <c:f>Analysis!$D$51:$D$52</c:f>
              <c:strCache>
                <c:ptCount val="1"/>
                <c:pt idx="0">
                  <c:v>Week 19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Analysis!$B$53:$B$59</c:f>
              <c:strCache>
                <c:ptCount val="6"/>
                <c:pt idx="0">
                  <c:v>Abdul Kalam Abdul Kalam</c:v>
                </c:pt>
                <c:pt idx="1">
                  <c:v>BIKASH TAMANG</c:v>
                </c:pt>
                <c:pt idx="2">
                  <c:v>Delivery</c:v>
                </c:pt>
                <c:pt idx="3">
                  <c:v>MELJON JACOB</c:v>
                </c:pt>
                <c:pt idx="4">
                  <c:v>MYKA BALINGIT</c:v>
                </c:pt>
                <c:pt idx="5">
                  <c:v>SUMITRA CHHETRI</c:v>
                </c:pt>
              </c:strCache>
            </c:strRef>
          </c:cat>
          <c:val>
            <c:numRef>
              <c:f>Analysis!$D$53:$D$59</c:f>
              <c:numCache>
                <c:formatCode>General</c:formatCode>
                <c:ptCount val="6"/>
                <c:pt idx="0">
                  <c:v>3388.87</c:v>
                </c:pt>
                <c:pt idx="1">
                  <c:v>3560.7</c:v>
                </c:pt>
                <c:pt idx="2">
                  <c:v>11542.5</c:v>
                </c:pt>
                <c:pt idx="3">
                  <c:v>14781.61</c:v>
                </c:pt>
                <c:pt idx="4">
                  <c:v>17005.05</c:v>
                </c:pt>
                <c:pt idx="5">
                  <c:v>11313.3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753-4CE2-B085-9F55740E00FA}"/>
            </c:ext>
          </c:extLst>
        </c:ser>
        <c:ser>
          <c:idx val="2"/>
          <c:order val="2"/>
          <c:tx>
            <c:strRef>
              <c:f>Analysis!$E$51:$E$52</c:f>
              <c:strCache>
                <c:ptCount val="1"/>
                <c:pt idx="0">
                  <c:v>Week 17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Analysis!$B$53:$B$59</c:f>
              <c:strCache>
                <c:ptCount val="6"/>
                <c:pt idx="0">
                  <c:v>Abdul Kalam Abdul Kalam</c:v>
                </c:pt>
                <c:pt idx="1">
                  <c:v>BIKASH TAMANG</c:v>
                </c:pt>
                <c:pt idx="2">
                  <c:v>Delivery</c:v>
                </c:pt>
                <c:pt idx="3">
                  <c:v>MELJON JACOB</c:v>
                </c:pt>
                <c:pt idx="4">
                  <c:v>MYKA BALINGIT</c:v>
                </c:pt>
                <c:pt idx="5">
                  <c:v>SUMITRA CHHETRI</c:v>
                </c:pt>
              </c:strCache>
            </c:strRef>
          </c:cat>
          <c:val>
            <c:numRef>
              <c:f>Analysis!$E$53:$E$59</c:f>
              <c:numCache>
                <c:formatCode>General</c:formatCode>
                <c:ptCount val="6"/>
                <c:pt idx="0">
                  <c:v>18858.79</c:v>
                </c:pt>
                <c:pt idx="1">
                  <c:v>4878.7</c:v>
                </c:pt>
                <c:pt idx="2">
                  <c:v>11479.8</c:v>
                </c:pt>
                <c:pt idx="3">
                  <c:v>0</c:v>
                </c:pt>
                <c:pt idx="4">
                  <c:v>23448.82</c:v>
                </c:pt>
                <c:pt idx="5">
                  <c:v>2731.9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753-4CE2-B085-9F55740E00FA}"/>
            </c:ext>
          </c:extLst>
        </c:ser>
        <c:ser>
          <c:idx val="3"/>
          <c:order val="3"/>
          <c:tx>
            <c:strRef>
              <c:f>Analysis!$F$51:$F$52</c:f>
              <c:strCache>
                <c:ptCount val="1"/>
                <c:pt idx="0">
                  <c:v>Week 18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Analysis!$B$53:$B$59</c:f>
              <c:strCache>
                <c:ptCount val="6"/>
                <c:pt idx="0">
                  <c:v>Abdul Kalam Abdul Kalam</c:v>
                </c:pt>
                <c:pt idx="1">
                  <c:v>BIKASH TAMANG</c:v>
                </c:pt>
                <c:pt idx="2">
                  <c:v>Delivery</c:v>
                </c:pt>
                <c:pt idx="3">
                  <c:v>MELJON JACOB</c:v>
                </c:pt>
                <c:pt idx="4">
                  <c:v>MYKA BALINGIT</c:v>
                </c:pt>
                <c:pt idx="5">
                  <c:v>SUMITRA CHHETRI</c:v>
                </c:pt>
              </c:strCache>
            </c:strRef>
          </c:cat>
          <c:val>
            <c:numRef>
              <c:f>Analysis!$F$53:$F$59</c:f>
              <c:numCache>
                <c:formatCode>General</c:formatCode>
                <c:ptCount val="6"/>
                <c:pt idx="0">
                  <c:v>5234.45</c:v>
                </c:pt>
                <c:pt idx="1">
                  <c:v>1270.9000000000001</c:v>
                </c:pt>
                <c:pt idx="2">
                  <c:v>11407.3</c:v>
                </c:pt>
                <c:pt idx="3">
                  <c:v>0</c:v>
                </c:pt>
                <c:pt idx="4">
                  <c:v>13433.5</c:v>
                </c:pt>
                <c:pt idx="5">
                  <c:v>24898.6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753-4CE2-B085-9F55740E0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0910671"/>
        <c:axId val="990909711"/>
      </c:barChart>
      <c:catAx>
        <c:axId val="990910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909711"/>
        <c:crosses val="autoZero"/>
        <c:auto val="1"/>
        <c:lblAlgn val="ctr"/>
        <c:lblOffset val="100"/>
        <c:noMultiLvlLbl val="0"/>
      </c:catAx>
      <c:valAx>
        <c:axId val="990909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910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Performance.xlsx]Analysis!PivotTable2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Sales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833333333333334"/>
              <c:y val="-3.703703703703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666666666666718E-2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0555555555555561E-2"/>
              <c:y val="-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2.7777777777777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055555555555556"/>
              <c:y val="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61111111111111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833333333333334"/>
              <c:y val="-3.703703703703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055555555555556"/>
              <c:y val="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61111111111111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2.7777777777777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0555555555555561E-2"/>
              <c:y val="-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666666666666718E-2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833333333333334"/>
              <c:y val="-3.703703703703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055555555555556"/>
              <c:y val="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61111111111111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2.7777777777777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0555555555555561E-2"/>
              <c:y val="-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666666666666718E-2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833333333333334"/>
              <c:y val="-3.703703703703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055555555555556"/>
              <c:y val="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61111111111111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2.7777777777777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0555555555555561E-2"/>
              <c:y val="-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666666666666718E-2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0833333333333334"/>
              <c:y val="-3.70370370370370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3055555555555556"/>
              <c:y val="6.944444444444444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61111111111111"/>
              <c:y val="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0000000000000002"/>
              <c:y val="-2.777777777777777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8.0555555555555561E-2"/>
              <c:y val="-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6666666666666718E-2"/>
              <c:y val="-8.79629629629629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Analysis!$B$3</c:f>
              <c:strCache>
                <c:ptCount val="1"/>
                <c:pt idx="0">
                  <c:v>Total</c:v>
                </c:pt>
              </c:strCache>
            </c:strRef>
          </c:tx>
          <c:explosion val="4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CE-4C96-B3D9-9D0DFB8F5BA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CE-4C96-B3D9-9D0DFB8F5BA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CE-4C96-B3D9-9D0DFB8F5BA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CCE-4C96-B3D9-9D0DFB8F5BA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CCE-4C96-B3D9-9D0DFB8F5BA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CCE-4C96-B3D9-9D0DFB8F5BA0}"/>
              </c:ext>
            </c:extLst>
          </c:dPt>
          <c:dLbls>
            <c:dLbl>
              <c:idx val="0"/>
              <c:layout>
                <c:manualLayout>
                  <c:x val="0.10833333333333334"/>
                  <c:y val="-3.70370370370370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CE-4C96-B3D9-9D0DFB8F5BA0}"/>
                </c:ext>
              </c:extLst>
            </c:dLbl>
            <c:dLbl>
              <c:idx val="1"/>
              <c:layout>
                <c:manualLayout>
                  <c:x val="0.13055555555555556"/>
                  <c:y val="6.94444444444444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CE-4C96-B3D9-9D0DFB8F5BA0}"/>
                </c:ext>
              </c:extLst>
            </c:dLbl>
            <c:dLbl>
              <c:idx val="2"/>
              <c:layout>
                <c:manualLayout>
                  <c:x val="-0.1361111111111111"/>
                  <c:y val="3.24074074074074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CE-4C96-B3D9-9D0DFB8F5BA0}"/>
                </c:ext>
              </c:extLst>
            </c:dLbl>
            <c:dLbl>
              <c:idx val="3"/>
              <c:layout>
                <c:manualLayout>
                  <c:x val="-0.10000000000000002"/>
                  <c:y val="-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CCE-4C96-B3D9-9D0DFB8F5BA0}"/>
                </c:ext>
              </c:extLst>
            </c:dLbl>
            <c:dLbl>
              <c:idx val="4"/>
              <c:layout>
                <c:manualLayout>
                  <c:x val="-8.0555555555555561E-2"/>
                  <c:y val="-7.407407407407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CCE-4C96-B3D9-9D0DFB8F5BA0}"/>
                </c:ext>
              </c:extLst>
            </c:dLbl>
            <c:dLbl>
              <c:idx val="5"/>
              <c:layout>
                <c:manualLayout>
                  <c:x val="-1.6666666666666718E-2"/>
                  <c:y val="-8.7962962962962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CCE-4C96-B3D9-9D0DFB8F5B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Analysis!$A$4:$A$10</c:f>
              <c:strCache>
                <c:ptCount val="6"/>
                <c:pt idx="0">
                  <c:v>MYKA BALINGIT</c:v>
                </c:pt>
                <c:pt idx="1">
                  <c:v>Delivery</c:v>
                </c:pt>
                <c:pt idx="2">
                  <c:v>SUMITRA CHHETRI</c:v>
                </c:pt>
                <c:pt idx="3">
                  <c:v>Abdul Kalam Abdul Kalam</c:v>
                </c:pt>
                <c:pt idx="4">
                  <c:v>BIKASH TAMANG</c:v>
                </c:pt>
                <c:pt idx="5">
                  <c:v>MELJON JACOB</c:v>
                </c:pt>
              </c:strCache>
            </c:strRef>
          </c:cat>
          <c:val>
            <c:numRef>
              <c:f>Analysis!$B$4:$B$10</c:f>
              <c:numCache>
                <c:formatCode>[$AED]\ #,##0</c:formatCode>
                <c:ptCount val="6"/>
                <c:pt idx="0">
                  <c:v>19745.442500000001</c:v>
                </c:pt>
                <c:pt idx="1">
                  <c:v>12263.65</c:v>
                </c:pt>
                <c:pt idx="2">
                  <c:v>10997.275</c:v>
                </c:pt>
                <c:pt idx="3">
                  <c:v>10289.74</c:v>
                </c:pt>
                <c:pt idx="4">
                  <c:v>5601.6375000000007</c:v>
                </c:pt>
                <c:pt idx="5">
                  <c:v>4753.2650000000003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CCE-4C96-B3D9-9D0DFB8F5B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Performance.xlsx]Analysis!PivotTable4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ADT and ATV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Analysis!$B$25</c:f>
              <c:strCache>
                <c:ptCount val="1"/>
                <c:pt idx="0">
                  <c:v>ADT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Analysis!$A$26:$A$32</c:f>
              <c:strCache>
                <c:ptCount val="6"/>
                <c:pt idx="0">
                  <c:v>MYKA BALINGIT</c:v>
                </c:pt>
                <c:pt idx="1">
                  <c:v>SUMITRA CHHETRI</c:v>
                </c:pt>
                <c:pt idx="2">
                  <c:v>Abdul Kalam Abdul Kalam</c:v>
                </c:pt>
                <c:pt idx="3">
                  <c:v>Delivery</c:v>
                </c:pt>
                <c:pt idx="4">
                  <c:v>BIKASH TAMANG</c:v>
                </c:pt>
                <c:pt idx="5">
                  <c:v>MELJON JACOB</c:v>
                </c:pt>
              </c:strCache>
            </c:strRef>
          </c:cat>
          <c:val>
            <c:numRef>
              <c:f>Analysis!$B$26:$B$32</c:f>
              <c:numCache>
                <c:formatCode>General</c:formatCode>
                <c:ptCount val="6"/>
                <c:pt idx="0">
                  <c:v>2336</c:v>
                </c:pt>
                <c:pt idx="1">
                  <c:v>1335</c:v>
                </c:pt>
                <c:pt idx="2">
                  <c:v>1169</c:v>
                </c:pt>
                <c:pt idx="3">
                  <c:v>1028</c:v>
                </c:pt>
                <c:pt idx="4">
                  <c:v>686</c:v>
                </c:pt>
                <c:pt idx="5">
                  <c:v>538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43-4D1A-9155-21F5F74162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109409151"/>
        <c:axId val="2109407711"/>
      </c:barChart>
      <c:lineChart>
        <c:grouping val="standard"/>
        <c:varyColors val="0"/>
        <c:ser>
          <c:idx val="1"/>
          <c:order val="1"/>
          <c:tx>
            <c:strRef>
              <c:f>Analysis!$C$25</c:f>
              <c:strCache>
                <c:ptCount val="1"/>
                <c:pt idx="0">
                  <c:v>ATV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Analysis!$A$26:$A$32</c:f>
              <c:strCache>
                <c:ptCount val="6"/>
                <c:pt idx="0">
                  <c:v>MYKA BALINGIT</c:v>
                </c:pt>
                <c:pt idx="1">
                  <c:v>SUMITRA CHHETRI</c:v>
                </c:pt>
                <c:pt idx="2">
                  <c:v>Abdul Kalam Abdul Kalam</c:v>
                </c:pt>
                <c:pt idx="3">
                  <c:v>Delivery</c:v>
                </c:pt>
                <c:pt idx="4">
                  <c:v>BIKASH TAMANG</c:v>
                </c:pt>
                <c:pt idx="5">
                  <c:v>MELJON JACOB</c:v>
                </c:pt>
              </c:strCache>
            </c:strRef>
          </c:cat>
          <c:val>
            <c:numRef>
              <c:f>Analysis!$C$26:$C$32</c:f>
              <c:numCache>
                <c:formatCode>0.0</c:formatCode>
                <c:ptCount val="6"/>
                <c:pt idx="0">
                  <c:v>34.000749999999996</c:v>
                </c:pt>
                <c:pt idx="1">
                  <c:v>33.088749999999997</c:v>
                </c:pt>
                <c:pt idx="2">
                  <c:v>33.774250000000002</c:v>
                </c:pt>
                <c:pt idx="3">
                  <c:v>47.613</c:v>
                </c:pt>
                <c:pt idx="4">
                  <c:v>30.814750000000004</c:v>
                </c:pt>
                <c:pt idx="5">
                  <c:v>16.971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43-4D1A-9155-21F5F74162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92843263"/>
        <c:axId val="992844223"/>
      </c:lineChart>
      <c:catAx>
        <c:axId val="2109409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9407711"/>
        <c:crosses val="autoZero"/>
        <c:auto val="1"/>
        <c:lblAlgn val="ctr"/>
        <c:lblOffset val="100"/>
        <c:noMultiLvlLbl val="0"/>
      </c:catAx>
      <c:valAx>
        <c:axId val="2109407711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9409151"/>
        <c:crosses val="autoZero"/>
        <c:crossBetween val="between"/>
      </c:valAx>
      <c:valAx>
        <c:axId val="99284422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ATV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843263"/>
        <c:crosses val="max"/>
        <c:crossBetween val="between"/>
      </c:valAx>
      <c:catAx>
        <c:axId val="99284326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928442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Performance.xlsx]Analysis!PivotTable5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</a:t>
            </a:r>
            <a:r>
              <a:rPr lang="en-US" baseline="0"/>
              <a:t>sales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Analysis!$B$39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Analysis!$A$40:$A$44</c:f>
              <c:strCache>
                <c:ptCount val="4"/>
                <c:pt idx="0">
                  <c:v>Week 16</c:v>
                </c:pt>
                <c:pt idx="1">
                  <c:v>Week 19</c:v>
                </c:pt>
                <c:pt idx="2">
                  <c:v>Week 17</c:v>
                </c:pt>
                <c:pt idx="3">
                  <c:v>Week 18</c:v>
                </c:pt>
              </c:strCache>
            </c:strRef>
          </c:cat>
          <c:val>
            <c:numRef>
              <c:f>Analysis!$B$40:$B$44</c:f>
              <c:numCache>
                <c:formatCode>[$AED]\ #,##0</c:formatCode>
                <c:ptCount val="4"/>
                <c:pt idx="0">
                  <c:v>75369.25</c:v>
                </c:pt>
                <c:pt idx="1">
                  <c:v>61592.030000000006</c:v>
                </c:pt>
                <c:pt idx="2">
                  <c:v>61398.01</c:v>
                </c:pt>
                <c:pt idx="3">
                  <c:v>56244.749999999993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41-4709-AB15-7DB50FE0C46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95074959"/>
        <c:axId val="895077359"/>
      </c:barChart>
      <c:catAx>
        <c:axId val="89507495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077359"/>
        <c:crosses val="autoZero"/>
        <c:auto val="1"/>
        <c:lblAlgn val="ctr"/>
        <c:lblOffset val="100"/>
        <c:noMultiLvlLbl val="0"/>
      </c:catAx>
      <c:valAx>
        <c:axId val="895077359"/>
        <c:scaling>
          <c:orientation val="minMax"/>
        </c:scaling>
        <c:delete val="0"/>
        <c:axPos val="b"/>
        <c:numFmt formatCode="[$AED]\ 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5074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1872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PRODUCTIVITY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REPORT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64592" y="2212848"/>
            <a:ext cx="8796528" cy="54864"/>
          </a:xfrm>
          <a:prstGeom prst="rect">
            <a:avLst/>
          </a:prstGeom>
          <a:solidFill>
            <a:srgbClr val="CBA258"/>
          </a:solidFill>
          <a:ln w="12700">
            <a:solidFill>
              <a:srgbClr val="CBA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59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Sales Analysis  |  Weeks 16 – 19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100" dirty="0" err="1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Buruhani</a:t>
            </a:r>
            <a:r>
              <a:rPr lang="en-US" sz="1100" dirty="0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Mutebi|  Period: April – May 2026  |  Store: Al </a:t>
            </a:r>
            <a:r>
              <a:rPr lang="en-US" sz="1100" dirty="0" err="1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Dhaid</a:t>
            </a:r>
            <a:r>
              <a:rPr lang="en-US" sz="1100" dirty="0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Souq </a:t>
            </a:r>
            <a:r>
              <a:rPr lang="en-US" sz="1100" dirty="0" err="1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Shariat</a:t>
            </a:r>
            <a:r>
              <a:rPr lang="en-US" sz="1100" dirty="0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Heritage DT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0704A">
              <a:alpha val="45000"/>
            </a:srgbClr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371600"/>
            <a:ext cx="1828800" cy="1828800"/>
          </a:xfrm>
          <a:prstGeom prst="ellipse">
            <a:avLst/>
          </a:prstGeom>
          <a:solidFill>
            <a:srgbClr val="CBA258">
              <a:alpha val="20000"/>
            </a:srgbClr>
          </a:solidFill>
          <a:ln w="12700">
            <a:solidFill>
              <a:srgbClr val="CBA25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105156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and overall store performance at a glance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64008" cy="105156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Partner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4356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driving the most sales across 4 weeks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0280"/>
            <a:ext cx="64008" cy="105156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4400" y="2313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7157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and ATV breakdown per partner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64008" cy="105156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313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Trends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71576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Store-wide revenue trajectory Week 16 through Week 19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204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20440"/>
            <a:ext cx="64008" cy="105156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" y="3593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9959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Standout performers, inconsistencies, and red flags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64008" cy="105156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11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5935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9959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 the store manager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Store-wide KPIs · Weeks 16–19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Manager requested this analysis to evaluate individual partner contributions to store revenue, identify performance consistency, and surface any patterns requiring coaching or schedule adjustments across a 4-week period.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51760" cy="146304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254,604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Sales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partners · 4 weeks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7,092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Transactions (ADT)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2651760" cy="1463040"/>
          </a:xfrm>
          <a:prstGeom prst="rect">
            <a:avLst/>
          </a:prstGeom>
          <a:solidFill>
            <a:srgbClr val="CBA258"/>
          </a:solidFill>
          <a:ln w="12700">
            <a:solidFill>
              <a:srgbClr val="CBA25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32.7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80760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Avg ATV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Value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91840"/>
            <a:ext cx="54864" cy="621792"/>
          </a:xfrm>
          <a:prstGeom prst="rect">
            <a:avLst/>
          </a:prstGeom>
          <a:solidFill>
            <a:srgbClr val="CBA258"/>
          </a:solidFill>
          <a:ln w="12700">
            <a:solidFill>
              <a:srgbClr val="CBA2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101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MYKA BALINGIT is the store's highest-revenue partner at AED 78,982 — 31% of all sales.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041648"/>
            <a:ext cx="54864" cy="621792"/>
          </a:xfrm>
          <a:prstGeom prst="rect">
            <a:avLst/>
          </a:prstGeom>
          <a:solidFill>
            <a:srgbClr val="CBA258"/>
          </a:solidFill>
          <a:ln w="12700">
            <a:solidFill>
              <a:srgbClr val="CBA2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5993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revenue peaked in Week 16 (AED 75,369) and shows a declining trend, dropping 25% by Week 18 before a partial recovery in Week 19.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7"/>
          <p:cNvSpPr/>
          <p:nvPr/>
        </p:nvSpPr>
        <p:spPr>
          <a:xfrm>
            <a:off x="2560320" y="4754880"/>
            <a:ext cx="62179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8006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Store Sales:  AED 254,604</a:t>
            </a:r>
            <a:endParaRPr lang="en-US" sz="11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4B58CCEC-EA02-95AF-63AA-BFEEAF773C2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Q1:Who is driving more sales?</a:t>
            </a:r>
            <a:endParaRPr lang="en-AE" dirty="0">
              <a:solidFill>
                <a:schemeClr val="bg1"/>
              </a:solidFill>
            </a:endParaRPr>
          </a:p>
        </p:txBody>
      </p:sp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39165B2F-286B-41D0-A8D7-94880553B7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1347937"/>
              </p:ext>
            </p:extLst>
          </p:nvPr>
        </p:nvGraphicFramePr>
        <p:xfrm>
          <a:off x="0" y="860651"/>
          <a:ext cx="4648840" cy="3848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10AD3219-F2A7-42CA-8D8F-E0C7ED8035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9493234"/>
              </p:ext>
            </p:extLst>
          </p:nvPr>
        </p:nvGraphicFramePr>
        <p:xfrm>
          <a:off x="4902412" y="1025310"/>
          <a:ext cx="4241588" cy="3439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&amp; Q3: TRANSACTION VOLUME VS. VALUE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&amp; ATV by Partner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690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MELJON JACOB's ATV of AED 17.0 is nearly half the store average of AED 32.7 — warrants immediate review.</a:t>
            </a:r>
            <a:endParaRPr lang="en-US" sz="1000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B5FD593-54B5-4A3F-8C6D-2C53D09618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9029584"/>
              </p:ext>
            </p:extLst>
          </p:nvPr>
        </p:nvGraphicFramePr>
        <p:xfrm>
          <a:off x="176733" y="753035"/>
          <a:ext cx="8595361" cy="3901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ARE WE TRENDING UP OR DOWN?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Store Revenue &amp; Partner Breakdown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274320" y="41148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4114800"/>
            <a:ext cx="54864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8912" y="416052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25% from Week 16 to Week 18 — from AED 75K to AED 56K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41148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4114800"/>
            <a:ext cx="54864" cy="86868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73752" y="4160520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19 shows a partial recovery (+9.5%), driven by MELJON JACOB's return</a:t>
            </a:r>
            <a:endParaRPr lang="en-US" sz="110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D9BCF3F-0EBE-4F81-A508-7BC18A7157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973163"/>
              </p:ext>
            </p:extLst>
          </p:nvPr>
        </p:nvGraphicFramePr>
        <p:xfrm>
          <a:off x="274320" y="914400"/>
          <a:ext cx="8549640" cy="3127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Patterns Across Weeks 16–19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1261872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914400"/>
            <a:ext cx="1188720" cy="237744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8912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MYKA BALINGIT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4996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the #1 revenue partner in 3 of 4 weeks. Highest ADT (2,336) and AED 78,982 in total sales. A model for partner productivity.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914400"/>
            <a:ext cx="1188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9144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COMEBACK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73752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SUMITRA CHHETRI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3752" y="14996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in Week 17 (AED 2,732) then exploded to AED 24,899 in Week 18 — the single highest individual week by any partner. Investigate what changed.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40280"/>
            <a:ext cx="64008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331720"/>
            <a:ext cx="118872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331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8912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MELJON JACOB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" y="29169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sales in Weeks 17 &amp; 18 (likely absent), but returned strongly in Week 19 (AED 14,782). ATV of just AED 17.0 — far below store average of AED 32.7.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40280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331720"/>
            <a:ext cx="11887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331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3752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29169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consistent performer — AED 11K–14K every single week. Highest ATV at 47.6 reflects larger order values via app/delivery platforms.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57600"/>
            <a:ext cx="64008" cy="12618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749040"/>
            <a:ext cx="118872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38912" y="4041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BIKASH TAMANG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" y="43342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dropped sharply from AED 12,696 in Week 16 to AED 1,271 in Week 18. Needs scheduling review — potential availability or motivation issue.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65760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657600"/>
            <a:ext cx="64008" cy="12618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749040"/>
            <a:ext cx="1188720" cy="23774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749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73752" y="4041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Kalam Abdul Kalam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73752" y="43342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 Weeks 16 &amp; 17 (AED 13–18K) but dropped to under AED 4K in Weeks 18 &amp; 19. Inconsistency likely scheduling-related.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932"/>
          </a:solidFill>
          <a:ln w="12700">
            <a:solidFill>
              <a:srgbClr val="1E39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for Store Manager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4124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41248" y="896112"/>
            <a:ext cx="77724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8961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19072" y="8595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MELJON JACOB's ATV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19072" y="115214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ATV of AED 17.0 vs store average 32.7 is a significant gap. Review transaction logs for missed upsell opportunities and consider targeted coaching.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45920"/>
            <a:ext cx="54864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68249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41248" y="1737360"/>
            <a:ext cx="77724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17373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9072" y="170078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BIKASH TAMANG's Availability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19072" y="199339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dropped 90% from Week 16 to Week 18. Confirm scheduling consistency and identify any attendance or motivation issues before they worsen.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87168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2374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41248" y="2578608"/>
            <a:ext cx="7772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25786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19072" y="25420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MYKA BALINGIT as a Peer Mentor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19072" y="2834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both volume and value. Use their techniques as a coaching benchmark — pair with underperformers for knowledge transfer.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2841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328416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6499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41248" y="3419856"/>
            <a:ext cx="7772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4198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19072" y="3383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Week 16 Drop-Off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19072" y="36758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store revenue has declined since Week 16. Determine if this is a scheduling pattern, seasonal variation, or a structural issue requiring immediate action.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16966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169664"/>
            <a:ext cx="54864" cy="713232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0624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41248" y="4261104"/>
            <a:ext cx="777240" cy="219456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2611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719072" y="4224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9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on Delivery Channel Growth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19072" y="45171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maintains ATV of AED 47.6 — 45% above store average. Explore strategies to grow the online order base (promotions, app visibility).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04A"/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331720"/>
            <a:ext cx="8796528" cy="54864"/>
          </a:xfrm>
          <a:prstGeom prst="rect">
            <a:avLst/>
          </a:prstGeom>
          <a:solidFill>
            <a:srgbClr val="CBA258"/>
          </a:solidFill>
          <a:ln w="12700">
            <a:solidFill>
              <a:srgbClr val="CBA2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drives better decisions — for our partners, our customers, and our store.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 Weeks 16–19  |  Total Partners Analyzed: 6  |  Store: Al </a:t>
            </a:r>
            <a:r>
              <a:rPr lang="en-US" sz="1100" dirty="0" err="1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Dhaid</a:t>
            </a: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Souq </a:t>
            </a:r>
            <a:r>
              <a:rPr lang="en-US" sz="1100" dirty="0" err="1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Shariat</a:t>
            </a:r>
            <a:r>
              <a:rPr lang="en-US" sz="1100" dirty="0">
                <a:solidFill>
                  <a:srgbClr val="CBA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Heritage DT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or follow-up analysis can be directed to </a:t>
            </a:r>
            <a:r>
              <a:rPr lang="en-US" sz="1000" dirty="0" err="1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Buruhani</a:t>
            </a:r>
            <a:r>
              <a:rPr lang="en-US" sz="1000" dirty="0">
                <a:solidFill>
                  <a:srgbClr val="7AB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0704A">
              <a:alpha val="45000"/>
            </a:srgbClr>
          </a:solidFill>
          <a:ln w="12700">
            <a:solidFill>
              <a:srgbClr val="0070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1371600"/>
            <a:ext cx="1828800" cy="1828800"/>
          </a:xfrm>
          <a:prstGeom prst="ellipse">
            <a:avLst/>
          </a:prstGeom>
          <a:solidFill>
            <a:srgbClr val="CBA258">
              <a:alpha val="20000"/>
            </a:srgbClr>
          </a:solidFill>
          <a:ln w="12700">
            <a:solidFill>
              <a:srgbClr val="CBA25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756</Words>
  <Application>Microsoft Office PowerPoint</Application>
  <PresentationFormat>On-screen Show (16:9)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 Productivity Report</dc:title>
  <dc:subject>PptxGenJS Presentation</dc:subject>
  <dc:creator>PptxGenJS</dc:creator>
  <cp:lastModifiedBy>Aarham .</cp:lastModifiedBy>
  <cp:revision>2</cp:revision>
  <dcterms:created xsi:type="dcterms:W3CDTF">2026-05-16T11:33:13Z</dcterms:created>
  <dcterms:modified xsi:type="dcterms:W3CDTF">2026-05-16T14:42:04Z</dcterms:modified>
</cp:coreProperties>
</file>